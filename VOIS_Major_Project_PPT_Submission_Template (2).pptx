
<file path=[Content_Types].xml><?xml version="1.0" encoding="utf-8"?>
<Types xmlns="http://schemas.openxmlformats.org/package/2006/content-types">
  <Default Extension="jfif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47" r:id="rId4"/>
  </p:sldMasterIdLst>
  <p:notesMasterIdLst>
    <p:notesMasterId r:id="rId19"/>
  </p:notesMasterIdLst>
  <p:handoutMasterIdLst>
    <p:handoutMasterId r:id="rId20"/>
  </p:handoutMasterIdLst>
  <p:sldIdLst>
    <p:sldId id="338" r:id="rId5"/>
    <p:sldId id="327" r:id="rId6"/>
    <p:sldId id="315" r:id="rId7"/>
    <p:sldId id="329" r:id="rId8"/>
    <p:sldId id="302" r:id="rId9"/>
    <p:sldId id="339" r:id="rId10"/>
    <p:sldId id="340" r:id="rId11"/>
    <p:sldId id="344" r:id="rId12"/>
    <p:sldId id="345" r:id="rId13"/>
    <p:sldId id="346" r:id="rId14"/>
    <p:sldId id="341" r:id="rId15"/>
    <p:sldId id="342" r:id="rId16"/>
    <p:sldId id="343" r:id="rId17"/>
    <p:sldId id="304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968" userDrawn="1">
          <p15:clr>
            <a:srgbClr val="A4A3A4"/>
          </p15:clr>
        </p15:guide>
        <p15:guide id="2" pos="408" userDrawn="1">
          <p15:clr>
            <a:srgbClr val="A4A3A4"/>
          </p15:clr>
        </p15:guide>
        <p15:guide id="3" orient="horz" pos="3912" userDrawn="1">
          <p15:clr>
            <a:srgbClr val="A4A3A4"/>
          </p15:clr>
        </p15:guide>
        <p15:guide id="4" pos="7272" userDrawn="1">
          <p15:clr>
            <a:srgbClr val="A4A3A4"/>
          </p15:clr>
        </p15:guide>
        <p15:guide id="5" orient="horz" pos="1656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9D9D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419AE38-882F-1515-E21D-2DA2765CE3A3}" v="2" dt="2026-09-02T10:33:37.143"/>
    <p1510:client id="{BA573E70-4CE7-E3DA-403D-1D1B358A6CED}" v="45" dt="2026-09-02T10:11:53.372"/>
  </p1510:revLst>
</p1510:revInfo>
</file>

<file path=ppt/tableStyles.xml><?xml version="1.0" encoding="utf-8"?>
<a:tblStyleLst xmlns:a="http://schemas.openxmlformats.org/drawingml/2006/main" def="{6E25E649-3F16-4E02-A733-19D2CDBF48F0}">
  <a:tblStyle styleId="{6E25E649-3F16-4E02-A733-19D2CDBF48F0}" styleName="Medium Style 3 - Accent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5033" autoAdjust="0"/>
  </p:normalViewPr>
  <p:slideViewPr>
    <p:cSldViewPr snapToGrid="0">
      <p:cViewPr varScale="1">
        <p:scale>
          <a:sx n="86" d="100"/>
          <a:sy n="86" d="100"/>
        </p:scale>
        <p:origin x="562" y="53"/>
      </p:cViewPr>
      <p:guideLst>
        <p:guide orient="horz" pos="1968"/>
        <p:guide pos="408"/>
        <p:guide orient="horz" pos="3912"/>
        <p:guide pos="7272"/>
        <p:guide orient="horz" pos="1656"/>
      </p:guideLst>
    </p:cSldViewPr>
  </p:slideViewPr>
  <p:outlineViewPr>
    <p:cViewPr>
      <p:scale>
        <a:sx n="33" d="100"/>
        <a:sy n="33" d="100"/>
      </p:scale>
      <p:origin x="0" y="-4886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10" d="100"/>
        <a:sy n="110" d="100"/>
      </p:scale>
      <p:origin x="0" y="-965"/>
    </p:cViewPr>
  </p:sorterViewPr>
  <p:notesViewPr>
    <p:cSldViewPr snapToGrid="0">
      <p:cViewPr varScale="1">
        <p:scale>
          <a:sx n="60" d="100"/>
          <a:sy n="60" d="100"/>
        </p:scale>
        <p:origin x="3187" y="48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5/10/relationships/revisionInfo" Target="revisionInfo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B76F666D-E0C2-435B-BAA8-9287F9E5D38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9FEBCAF-CB3F-4928-91AA-D61472F880C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077DB-935E-4A0A-947A-D283B9F9F452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256698-63C6-4CCC-81CB-EA5604C30F1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2467FDA-05D7-4760-A373-5D6AEAAF427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2C0B10-7CAE-41E4-AB02-7E8B1FF2B89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53759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9EC30E-1A71-4188-9BE7-E2A64929A436}" type="datetimeFigureOut">
              <a:rPr lang="en-US" noProof="0" smtClean="0"/>
              <a:t>9/10/2026</a:t>
            </a:fld>
            <a:endParaRPr lang="en-US" noProof="0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noProof="0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noProof="0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530193B-564F-4854-8A52-728F3FB19C85}" type="slidenum">
              <a:rPr lang="en-US" noProof="0" smtClean="0"/>
              <a:t>‹#›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36038165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530193B-564F-4854-8A52-728F3FB19C85}" type="slidenum">
              <a:rPr lang="en-US" noProof="0" smtClean="0"/>
              <a:t>5</a:t>
            </a:fld>
            <a:endParaRPr lang="en-US" noProof="0" dirty="0"/>
          </a:p>
        </p:txBody>
      </p:sp>
    </p:spTree>
    <p:extLst>
      <p:ext uri="{BB962C8B-B14F-4D97-AF65-F5344CB8AC3E}">
        <p14:creationId xmlns:p14="http://schemas.microsoft.com/office/powerpoint/2010/main" val="250791223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70022032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0528460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7669602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712588-04B1-427B-82EE-E8DB90309F08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FF9F0C5-380F-41C2-899A-BAC0F0927E16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7459935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239096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1965439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86897335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8962061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3030451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8109717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322563127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847825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26250616"/>
      </p:ext>
    </p:extLst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33561930"/>
      </p:ext>
    </p:extLst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smtClean="0"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77920135"/>
      </p:ext>
    </p:extLst>
  </p:cSld>
  <p:clrMapOvr>
    <a:masterClrMapping/>
  </p:clrMapOvr>
  <p:hf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619384"/>
      </p:ext>
    </p:extLst>
  </p:cSld>
  <p:clrMapOvr>
    <a:masterClrMapping/>
  </p:clrMapOvr>
  <p:hf hdr="0" ftr="0" dt="0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FDA3C6F-5F6A-4D64-8BFE-AFFF58B1A04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312871" y="4141999"/>
            <a:ext cx="4220845" cy="86149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000" b="1">
                <a:solidFill>
                  <a:schemeClr val="accent4"/>
                </a:solidFill>
                <a:latin typeface="+mj-lt"/>
              </a:defRPr>
            </a:lvl1pPr>
            <a:lvl2pPr>
              <a:buNone/>
              <a:defRPr sz="2000"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</p:txBody>
      </p:sp>
      <p:sp>
        <p:nvSpPr>
          <p:cNvPr id="15" name="Hexagon 14">
            <a:extLst>
              <a:ext uri="{FF2B5EF4-FFF2-40B4-BE49-F238E27FC236}">
                <a16:creationId xmlns:a16="http://schemas.microsoft.com/office/drawing/2014/main" id="{AC159667-7690-4645-986D-BE501438455F}"/>
              </a:ext>
            </a:extLst>
          </p:cNvPr>
          <p:cNvSpPr/>
          <p:nvPr userDrawn="1"/>
        </p:nvSpPr>
        <p:spPr>
          <a:xfrm>
            <a:off x="740309" y="1382809"/>
            <a:ext cx="1229566" cy="1059971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6" name="Hexagon 15">
            <a:extLst>
              <a:ext uri="{FF2B5EF4-FFF2-40B4-BE49-F238E27FC236}">
                <a16:creationId xmlns:a16="http://schemas.microsoft.com/office/drawing/2014/main" id="{54667EE4-E77F-453B-BF8B-B1EE2AE80715}"/>
              </a:ext>
            </a:extLst>
          </p:cNvPr>
          <p:cNvSpPr/>
          <p:nvPr userDrawn="1"/>
        </p:nvSpPr>
        <p:spPr>
          <a:xfrm>
            <a:off x="3755031" y="1194620"/>
            <a:ext cx="1666162" cy="1436347"/>
          </a:xfrm>
          <a:prstGeom prst="hexagon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Hexagon 16">
            <a:extLst>
              <a:ext uri="{FF2B5EF4-FFF2-40B4-BE49-F238E27FC236}">
                <a16:creationId xmlns:a16="http://schemas.microsoft.com/office/drawing/2014/main" id="{FC050232-A229-425F-BFC8-D50374F2D171}"/>
              </a:ext>
            </a:extLst>
          </p:cNvPr>
          <p:cNvSpPr/>
          <p:nvPr userDrawn="1"/>
        </p:nvSpPr>
        <p:spPr>
          <a:xfrm>
            <a:off x="3804994" y="5233183"/>
            <a:ext cx="718261" cy="619191"/>
          </a:xfrm>
          <a:prstGeom prst="hexagon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8" name="Hexagon 17">
            <a:extLst>
              <a:ext uri="{FF2B5EF4-FFF2-40B4-BE49-F238E27FC236}">
                <a16:creationId xmlns:a16="http://schemas.microsoft.com/office/drawing/2014/main" id="{53E4EBC7-340A-43A5-9E23-4B73A6F700B6}"/>
              </a:ext>
            </a:extLst>
          </p:cNvPr>
          <p:cNvSpPr/>
          <p:nvPr userDrawn="1"/>
        </p:nvSpPr>
        <p:spPr>
          <a:xfrm>
            <a:off x="1837838" y="1101306"/>
            <a:ext cx="651613" cy="561736"/>
          </a:xfrm>
          <a:prstGeom prst="hexagon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9" name="Picture Placeholder 18">
            <a:extLst>
              <a:ext uri="{FF2B5EF4-FFF2-40B4-BE49-F238E27FC236}">
                <a16:creationId xmlns:a16="http://schemas.microsoft.com/office/drawing/2014/main" id="{1ED0E31A-F0A3-481D-8D9C-E3C4531FD21D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571515" y="1914044"/>
            <a:ext cx="3993624" cy="3617848"/>
          </a:xfrm>
          <a:custGeom>
            <a:avLst/>
            <a:gdLst>
              <a:gd name="connsiteX0" fmla="*/ 1223161 w 3993624"/>
              <a:gd name="connsiteY0" fmla="*/ 2354088 h 3617848"/>
              <a:gd name="connsiteX1" fmla="*/ 2057242 w 3993624"/>
              <a:gd name="connsiteY1" fmla="*/ 2354088 h 3617848"/>
              <a:gd name="connsiteX2" fmla="*/ 2373182 w 3993624"/>
              <a:gd name="connsiteY2" fmla="*/ 2985968 h 3617848"/>
              <a:gd name="connsiteX3" fmla="*/ 2057242 w 3993624"/>
              <a:gd name="connsiteY3" fmla="*/ 3617848 h 3617848"/>
              <a:gd name="connsiteX4" fmla="*/ 1223161 w 3993624"/>
              <a:gd name="connsiteY4" fmla="*/ 3617848 h 3617848"/>
              <a:gd name="connsiteX5" fmla="*/ 907221 w 3993624"/>
              <a:gd name="connsiteY5" fmla="*/ 2985968 h 3617848"/>
              <a:gd name="connsiteX6" fmla="*/ 2569631 w 3993624"/>
              <a:gd name="connsiteY6" fmla="*/ 1425984 h 3617848"/>
              <a:gd name="connsiteX7" fmla="*/ 3602417 w 3993624"/>
              <a:gd name="connsiteY7" fmla="*/ 1425984 h 3617848"/>
              <a:gd name="connsiteX8" fmla="*/ 3993624 w 3993624"/>
              <a:gd name="connsiteY8" fmla="*/ 2208398 h 3617848"/>
              <a:gd name="connsiteX9" fmla="*/ 3602417 w 3993624"/>
              <a:gd name="connsiteY9" fmla="*/ 2990812 h 3617848"/>
              <a:gd name="connsiteX10" fmla="*/ 2569631 w 3993624"/>
              <a:gd name="connsiteY10" fmla="*/ 2990812 h 3617848"/>
              <a:gd name="connsiteX11" fmla="*/ 2178424 w 3993624"/>
              <a:gd name="connsiteY11" fmla="*/ 2208398 h 3617848"/>
              <a:gd name="connsiteX12" fmla="*/ 551406 w 3993624"/>
              <a:gd name="connsiteY12" fmla="*/ 0 h 3617848"/>
              <a:gd name="connsiteX13" fmla="*/ 2007117 w 3993624"/>
              <a:gd name="connsiteY13" fmla="*/ 0 h 3617848"/>
              <a:gd name="connsiteX14" fmla="*/ 2558523 w 3993624"/>
              <a:gd name="connsiteY14" fmla="*/ 1102811 h 3617848"/>
              <a:gd name="connsiteX15" fmla="*/ 2007117 w 3993624"/>
              <a:gd name="connsiteY15" fmla="*/ 2205622 h 3617848"/>
              <a:gd name="connsiteX16" fmla="*/ 551406 w 3993624"/>
              <a:gd name="connsiteY16" fmla="*/ 2205622 h 3617848"/>
              <a:gd name="connsiteX17" fmla="*/ 0 w 3993624"/>
              <a:gd name="connsiteY17" fmla="*/ 1102811 h 36178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3993624" h="3617848">
                <a:moveTo>
                  <a:pt x="1223161" y="2354088"/>
                </a:moveTo>
                <a:lnTo>
                  <a:pt x="2057242" y="2354088"/>
                </a:lnTo>
                <a:lnTo>
                  <a:pt x="2373182" y="2985968"/>
                </a:lnTo>
                <a:lnTo>
                  <a:pt x="2057242" y="3617848"/>
                </a:lnTo>
                <a:lnTo>
                  <a:pt x="1223161" y="3617848"/>
                </a:lnTo>
                <a:lnTo>
                  <a:pt x="907221" y="2985968"/>
                </a:lnTo>
                <a:close/>
                <a:moveTo>
                  <a:pt x="2569631" y="1425984"/>
                </a:moveTo>
                <a:lnTo>
                  <a:pt x="3602417" y="1425984"/>
                </a:lnTo>
                <a:lnTo>
                  <a:pt x="3993624" y="2208398"/>
                </a:lnTo>
                <a:lnTo>
                  <a:pt x="3602417" y="2990812"/>
                </a:lnTo>
                <a:lnTo>
                  <a:pt x="2569631" y="2990812"/>
                </a:lnTo>
                <a:lnTo>
                  <a:pt x="2178424" y="2208398"/>
                </a:lnTo>
                <a:close/>
                <a:moveTo>
                  <a:pt x="551406" y="0"/>
                </a:moveTo>
                <a:lnTo>
                  <a:pt x="2007117" y="0"/>
                </a:lnTo>
                <a:lnTo>
                  <a:pt x="2558523" y="1102811"/>
                </a:lnTo>
                <a:lnTo>
                  <a:pt x="2007117" y="2205622"/>
                </a:lnTo>
                <a:lnTo>
                  <a:pt x="551406" y="2205622"/>
                </a:lnTo>
                <a:lnTo>
                  <a:pt x="0" y="1102811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3E68100-C56F-4515-A4FD-3F301797E7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12871" y="2050552"/>
            <a:ext cx="4998720" cy="1748983"/>
          </a:xfrm>
          <a:prstGeom prst="rect">
            <a:avLst/>
          </a:prstGeom>
        </p:spPr>
        <p:txBody>
          <a:bodyPr/>
          <a:lstStyle>
            <a:lvl1pPr>
              <a:defRPr sz="2800">
                <a:solidFill>
                  <a:schemeClr val="tx1"/>
                </a:solidFill>
                <a:latin typeface="+mn-lt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09194673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1272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ntrodu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>
            <a:extLst>
              <a:ext uri="{FF2B5EF4-FFF2-40B4-BE49-F238E27FC236}">
                <a16:creationId xmlns:a16="http://schemas.microsoft.com/office/drawing/2014/main" id="{24FAA9D0-7C9C-4043-9931-A15819ABB9B5}"/>
              </a:ext>
            </a:extLst>
          </p:cNvPr>
          <p:cNvSpPr/>
          <p:nvPr userDrawn="1"/>
        </p:nvSpPr>
        <p:spPr>
          <a:xfrm>
            <a:off x="7362825" y="443263"/>
            <a:ext cx="361950" cy="36195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E232AB2D-843E-4B5F-8793-6A263DA356BB}"/>
              </a:ext>
            </a:extLst>
          </p:cNvPr>
          <p:cNvSpPr/>
          <p:nvPr userDrawn="1"/>
        </p:nvSpPr>
        <p:spPr>
          <a:xfrm>
            <a:off x="11007246" y="5605994"/>
            <a:ext cx="654227" cy="654227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75A12B-C399-4072-BD69-D872D2C2AD1F}"/>
              </a:ext>
            </a:extLst>
          </p:cNvPr>
          <p:cNvSpPr/>
          <p:nvPr userDrawn="1"/>
        </p:nvSpPr>
        <p:spPr>
          <a:xfrm>
            <a:off x="10683791" y="6132439"/>
            <a:ext cx="251152" cy="251152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accent5"/>
              </a:solidFill>
            </a:endParaRPr>
          </a:p>
        </p:txBody>
      </p:sp>
      <p:sp>
        <p:nvSpPr>
          <p:cNvPr id="23" name="Picture Placeholder 22">
            <a:extLst>
              <a:ext uri="{FF2B5EF4-FFF2-40B4-BE49-F238E27FC236}">
                <a16:creationId xmlns:a16="http://schemas.microsoft.com/office/drawing/2014/main" id="{423AE48B-50E9-4BEA-B66A-B2D2B9CCFE9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733416" y="624239"/>
            <a:ext cx="5855754" cy="5631571"/>
          </a:xfrm>
          <a:custGeom>
            <a:avLst/>
            <a:gdLst>
              <a:gd name="connsiteX0" fmla="*/ 3433020 w 5855754"/>
              <a:gd name="connsiteY0" fmla="*/ 786103 h 5631571"/>
              <a:gd name="connsiteX1" fmla="*/ 5855754 w 5855754"/>
              <a:gd name="connsiteY1" fmla="*/ 3208837 h 5631571"/>
              <a:gd name="connsiteX2" fmla="*/ 3433020 w 5855754"/>
              <a:gd name="connsiteY2" fmla="*/ 5631571 h 5631571"/>
              <a:gd name="connsiteX3" fmla="*/ 1010286 w 5855754"/>
              <a:gd name="connsiteY3" fmla="*/ 3208837 h 5631571"/>
              <a:gd name="connsiteX4" fmla="*/ 3433020 w 5855754"/>
              <a:gd name="connsiteY4" fmla="*/ 786103 h 5631571"/>
              <a:gd name="connsiteX5" fmla="*/ 828675 w 5855754"/>
              <a:gd name="connsiteY5" fmla="*/ 0 h 5631571"/>
              <a:gd name="connsiteX6" fmla="*/ 1657350 w 5855754"/>
              <a:gd name="connsiteY6" fmla="*/ 828675 h 5631571"/>
              <a:gd name="connsiteX7" fmla="*/ 828675 w 5855754"/>
              <a:gd name="connsiteY7" fmla="*/ 1657350 h 5631571"/>
              <a:gd name="connsiteX8" fmla="*/ 0 w 5855754"/>
              <a:gd name="connsiteY8" fmla="*/ 828675 h 5631571"/>
              <a:gd name="connsiteX9" fmla="*/ 828675 w 5855754"/>
              <a:gd name="connsiteY9" fmla="*/ 0 h 56315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5855754" h="5631571">
                <a:moveTo>
                  <a:pt x="3433020" y="786103"/>
                </a:moveTo>
                <a:cubicBezTo>
                  <a:pt x="4771059" y="786103"/>
                  <a:pt x="5855754" y="1870798"/>
                  <a:pt x="5855754" y="3208837"/>
                </a:cubicBezTo>
                <a:cubicBezTo>
                  <a:pt x="5855754" y="4546876"/>
                  <a:pt x="4771059" y="5631571"/>
                  <a:pt x="3433020" y="5631571"/>
                </a:cubicBezTo>
                <a:cubicBezTo>
                  <a:pt x="2094981" y="5631571"/>
                  <a:pt x="1010286" y="4546876"/>
                  <a:pt x="1010286" y="3208837"/>
                </a:cubicBezTo>
                <a:cubicBezTo>
                  <a:pt x="1010286" y="1870798"/>
                  <a:pt x="2094981" y="786103"/>
                  <a:pt x="3433020" y="786103"/>
                </a:cubicBezTo>
                <a:close/>
                <a:moveTo>
                  <a:pt x="828675" y="0"/>
                </a:moveTo>
                <a:cubicBezTo>
                  <a:pt x="1286340" y="0"/>
                  <a:pt x="1657350" y="371010"/>
                  <a:pt x="1657350" y="828675"/>
                </a:cubicBezTo>
                <a:cubicBezTo>
                  <a:pt x="1657350" y="1286340"/>
                  <a:pt x="1286340" y="1657350"/>
                  <a:pt x="828675" y="1657350"/>
                </a:cubicBezTo>
                <a:cubicBezTo>
                  <a:pt x="371010" y="1657350"/>
                  <a:pt x="0" y="1286340"/>
                  <a:pt x="0" y="828675"/>
                </a:cubicBezTo>
                <a:cubicBezTo>
                  <a:pt x="0" y="371010"/>
                  <a:pt x="371010" y="0"/>
                  <a:pt x="828675" y="0"/>
                </a:cubicBez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26">
            <a:extLst>
              <a:ext uri="{FF2B5EF4-FFF2-40B4-BE49-F238E27FC236}">
                <a16:creationId xmlns:a16="http://schemas.microsoft.com/office/drawing/2014/main" id="{282D3E62-6D1A-4E9D-BE54-2EED9BF429A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lnSpc>
                <a:spcPct val="150000"/>
              </a:lnSpc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DEB8F0E5-B89F-48AD-87BD-534EA9463C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5139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</p15:sldGuideLst>
    </p:ext>
  </p:extLs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26">
            <a:extLst>
              <a:ext uri="{FF2B5EF4-FFF2-40B4-BE49-F238E27FC236}">
                <a16:creationId xmlns:a16="http://schemas.microsoft.com/office/drawing/2014/main" id="{4AA38E8C-A334-4183-8ABC-112B8517F4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60400" y="2044700"/>
            <a:ext cx="4275138" cy="3560763"/>
          </a:xfrm>
          <a:prstGeom prst="rect">
            <a:avLst/>
          </a:prstGeom>
        </p:spPr>
        <p:txBody>
          <a:bodyPr/>
          <a:lstStyle>
            <a:lvl1pPr>
              <a:buClr>
                <a:schemeClr val="accent4"/>
              </a:buClr>
              <a:buFont typeface="Wingdings" panose="05000000000000000000" pitchFamily="2" charset="2"/>
              <a:buChar char="§"/>
              <a:defRPr sz="2000"/>
            </a:lvl1pPr>
            <a:lvl2pPr>
              <a:buClr>
                <a:schemeClr val="accent4"/>
              </a:buClr>
              <a:buFont typeface="Wingdings" panose="05000000000000000000" pitchFamily="2" charset="2"/>
              <a:buChar char="§"/>
              <a:defRPr sz="1800"/>
            </a:lvl2pPr>
            <a:lvl3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3pPr>
            <a:lvl4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4pPr>
            <a:lvl5pPr>
              <a:buClr>
                <a:schemeClr val="accent4"/>
              </a:buClr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B80624A4-5116-4AAF-8C31-C25D1DB16FEC}"/>
              </a:ext>
            </a:extLst>
          </p:cNvPr>
          <p:cNvSpPr/>
          <p:nvPr userDrawn="1"/>
        </p:nvSpPr>
        <p:spPr>
          <a:xfrm>
            <a:off x="9354457" y="5363987"/>
            <a:ext cx="457200" cy="4572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1D07EC8A-6024-4DEA-9C4D-AE4228E17854}"/>
              </a:ext>
            </a:extLst>
          </p:cNvPr>
          <p:cNvSpPr/>
          <p:nvPr userDrawn="1"/>
        </p:nvSpPr>
        <p:spPr>
          <a:xfrm>
            <a:off x="6692791" y="1699889"/>
            <a:ext cx="319749" cy="31974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D1C8FAEF-DF78-48CC-AEEF-F9B802055C05}"/>
              </a:ext>
            </a:extLst>
          </p:cNvPr>
          <p:cNvSpPr/>
          <p:nvPr userDrawn="1"/>
        </p:nvSpPr>
        <p:spPr>
          <a:xfrm>
            <a:off x="9354457" y="5897738"/>
            <a:ext cx="179977" cy="17997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566F72D6-AEEE-4CF3-8136-F6782F1E489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7090227" y="786181"/>
            <a:ext cx="4441372" cy="5393036"/>
          </a:xfrm>
          <a:custGeom>
            <a:avLst/>
            <a:gdLst>
              <a:gd name="connsiteX0" fmla="*/ 0 w 4441372"/>
              <a:gd name="connsiteY0" fmla="*/ 3188969 h 5393036"/>
              <a:gd name="connsiteX1" fmla="*/ 2173516 w 4441372"/>
              <a:gd name="connsiteY1" fmla="*/ 3188969 h 5393036"/>
              <a:gd name="connsiteX2" fmla="*/ 2173516 w 4441372"/>
              <a:gd name="connsiteY2" fmla="*/ 5393036 h 5393036"/>
              <a:gd name="connsiteX3" fmla="*/ 0 w 4441372"/>
              <a:gd name="connsiteY3" fmla="*/ 5393036 h 5393036"/>
              <a:gd name="connsiteX4" fmla="*/ 2267856 w 4441372"/>
              <a:gd name="connsiteY4" fmla="*/ 2293018 h 5393036"/>
              <a:gd name="connsiteX5" fmla="*/ 4441372 w 4441372"/>
              <a:gd name="connsiteY5" fmla="*/ 2293018 h 5393036"/>
              <a:gd name="connsiteX6" fmla="*/ 4441372 w 4441372"/>
              <a:gd name="connsiteY6" fmla="*/ 4497085 h 5393036"/>
              <a:gd name="connsiteX7" fmla="*/ 2267856 w 4441372"/>
              <a:gd name="connsiteY7" fmla="*/ 4497085 h 5393036"/>
              <a:gd name="connsiteX8" fmla="*/ 0 w 4441372"/>
              <a:gd name="connsiteY8" fmla="*/ 906837 h 5393036"/>
              <a:gd name="connsiteX9" fmla="*/ 2173516 w 4441372"/>
              <a:gd name="connsiteY9" fmla="*/ 906837 h 5393036"/>
              <a:gd name="connsiteX10" fmla="*/ 2173516 w 4441372"/>
              <a:gd name="connsiteY10" fmla="*/ 3110904 h 5393036"/>
              <a:gd name="connsiteX11" fmla="*/ 0 w 4441372"/>
              <a:gd name="connsiteY11" fmla="*/ 3110904 h 5393036"/>
              <a:gd name="connsiteX12" fmla="*/ 2267856 w 4441372"/>
              <a:gd name="connsiteY12" fmla="*/ 0 h 5393036"/>
              <a:gd name="connsiteX13" fmla="*/ 4441372 w 4441372"/>
              <a:gd name="connsiteY13" fmla="*/ 0 h 5393036"/>
              <a:gd name="connsiteX14" fmla="*/ 4441372 w 4441372"/>
              <a:gd name="connsiteY14" fmla="*/ 2204067 h 5393036"/>
              <a:gd name="connsiteX15" fmla="*/ 2267856 w 4441372"/>
              <a:gd name="connsiteY15" fmla="*/ 2204067 h 53930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</a:cxnLst>
            <a:rect l="l" t="t" r="r" b="b"/>
            <a:pathLst>
              <a:path w="4441372" h="5393036">
                <a:moveTo>
                  <a:pt x="0" y="3188969"/>
                </a:moveTo>
                <a:lnTo>
                  <a:pt x="2173516" y="3188969"/>
                </a:lnTo>
                <a:lnTo>
                  <a:pt x="2173516" y="5393036"/>
                </a:lnTo>
                <a:lnTo>
                  <a:pt x="0" y="5393036"/>
                </a:lnTo>
                <a:close/>
                <a:moveTo>
                  <a:pt x="2267856" y="2293018"/>
                </a:moveTo>
                <a:lnTo>
                  <a:pt x="4441372" y="2293018"/>
                </a:lnTo>
                <a:lnTo>
                  <a:pt x="4441372" y="4497085"/>
                </a:lnTo>
                <a:lnTo>
                  <a:pt x="2267856" y="4497085"/>
                </a:lnTo>
                <a:close/>
                <a:moveTo>
                  <a:pt x="0" y="906837"/>
                </a:moveTo>
                <a:lnTo>
                  <a:pt x="2173516" y="906837"/>
                </a:lnTo>
                <a:lnTo>
                  <a:pt x="2173516" y="3110904"/>
                </a:lnTo>
                <a:lnTo>
                  <a:pt x="0" y="3110904"/>
                </a:lnTo>
                <a:close/>
                <a:moveTo>
                  <a:pt x="2267856" y="0"/>
                </a:moveTo>
                <a:lnTo>
                  <a:pt x="4441372" y="0"/>
                </a:lnTo>
                <a:lnTo>
                  <a:pt x="4441372" y="2204067"/>
                </a:lnTo>
                <a:lnTo>
                  <a:pt x="2267856" y="2204067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59DADC7-BE21-4434-A6E4-BAF8090053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400" y="805213"/>
            <a:ext cx="4275138" cy="830997"/>
          </a:xfrm>
          <a:prstGeom prst="rect">
            <a:avLst/>
          </a:prstGeom>
        </p:spPr>
        <p:txBody>
          <a:bodyPr/>
          <a:lstStyle>
            <a:lvl1pPr>
              <a:defRPr sz="4800" b="1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12548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504">
          <p15:clr>
            <a:srgbClr val="FBAE40"/>
          </p15:clr>
        </p15:guide>
        <p15:guide id="2" pos="3840">
          <p15:clr>
            <a:srgbClr val="FBAE40"/>
          </p15:clr>
        </p15:guide>
        <p15:guide id="3" orient="horz" pos="1416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ea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CF421413-161E-4B36-B693-FB38DF14EDAB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53508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38" name="Picture Placeholder 37">
            <a:extLst>
              <a:ext uri="{FF2B5EF4-FFF2-40B4-BE49-F238E27FC236}">
                <a16:creationId xmlns:a16="http://schemas.microsoft.com/office/drawing/2014/main" id="{B5D207AE-9C9C-410A-9F31-2402BAD6DDFF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311592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0" name="Picture Placeholder 39">
            <a:extLst>
              <a:ext uri="{FF2B5EF4-FFF2-40B4-BE49-F238E27FC236}">
                <a16:creationId xmlns:a16="http://schemas.microsoft.com/office/drawing/2014/main" id="{DE3344FC-C4DE-481F-9C31-667EDD563C47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7602465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1" name="Picture Placeholder 40">
            <a:extLst>
              <a:ext uri="{FF2B5EF4-FFF2-40B4-BE49-F238E27FC236}">
                <a16:creationId xmlns:a16="http://schemas.microsoft.com/office/drawing/2014/main" id="{59094D7D-3613-49C1-BB58-A65B41A9738D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9840051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9FE87B7-32A4-4C7F-9AAF-37688E6404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32000" y="647700"/>
            <a:ext cx="11340000" cy="700114"/>
          </a:xfrm>
          <a:prstGeom prst="rect">
            <a:avLst/>
          </a:prstGeom>
        </p:spPr>
        <p:txBody>
          <a:bodyPr anchor="ctr"/>
          <a:lstStyle/>
          <a:p>
            <a:pPr algn="ctr"/>
            <a:r>
              <a:rPr lang="en-US" sz="4800" b="1">
                <a:solidFill>
                  <a:schemeClr val="tx1"/>
                </a:solidFill>
              </a:rPr>
              <a:t>Click to edit Master title style</a:t>
            </a:r>
            <a:endParaRPr lang="en-US" sz="4800" b="1" dirty="0">
              <a:solidFill>
                <a:schemeClr val="tx1"/>
              </a:solidFill>
            </a:endParaRPr>
          </a:p>
        </p:txBody>
      </p:sp>
      <p:sp>
        <p:nvSpPr>
          <p:cNvPr id="9" name="Hexagon 8">
            <a:extLst>
              <a:ext uri="{FF2B5EF4-FFF2-40B4-BE49-F238E27FC236}">
                <a16:creationId xmlns:a16="http://schemas.microsoft.com/office/drawing/2014/main" id="{476CA45F-A66A-4AD8-A004-10DB55A5D7B2}"/>
              </a:ext>
            </a:extLst>
          </p:cNvPr>
          <p:cNvSpPr/>
          <p:nvPr userDrawn="1"/>
        </p:nvSpPr>
        <p:spPr>
          <a:xfrm>
            <a:off x="546669" y="3467555"/>
            <a:ext cx="458268" cy="395059"/>
          </a:xfrm>
          <a:prstGeom prst="hexagon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Hexagon 9">
            <a:extLst>
              <a:ext uri="{FF2B5EF4-FFF2-40B4-BE49-F238E27FC236}">
                <a16:creationId xmlns:a16="http://schemas.microsoft.com/office/drawing/2014/main" id="{27A66A3D-2437-4015-9F5F-380C4D23D83C}"/>
              </a:ext>
            </a:extLst>
          </p:cNvPr>
          <p:cNvSpPr/>
          <p:nvPr userDrawn="1"/>
        </p:nvSpPr>
        <p:spPr>
          <a:xfrm>
            <a:off x="11113337" y="2394722"/>
            <a:ext cx="358391" cy="308958"/>
          </a:xfrm>
          <a:prstGeom prst="hexagon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Hexagon 10">
            <a:extLst>
              <a:ext uri="{FF2B5EF4-FFF2-40B4-BE49-F238E27FC236}">
                <a16:creationId xmlns:a16="http://schemas.microsoft.com/office/drawing/2014/main" id="{FFB14F3B-E7EF-4546-8D74-71FFB45C77C0}"/>
              </a:ext>
            </a:extLst>
          </p:cNvPr>
          <p:cNvSpPr/>
          <p:nvPr userDrawn="1"/>
        </p:nvSpPr>
        <p:spPr>
          <a:xfrm>
            <a:off x="10882649" y="2202202"/>
            <a:ext cx="230688" cy="198869"/>
          </a:xfrm>
          <a:prstGeom prst="hexagon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591F943B-ED0D-49A1-844A-E23BA9A4871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546668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9AC6B9A8-053C-4828-B705-901C6018F30D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56692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22">
            <a:extLst>
              <a:ext uri="{FF2B5EF4-FFF2-40B4-BE49-F238E27FC236}">
                <a16:creationId xmlns:a16="http://schemas.microsoft.com/office/drawing/2014/main" id="{BBA6FD52-E179-41F8-AE78-9AF3D65F28B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789482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2">
            <a:extLst>
              <a:ext uri="{FF2B5EF4-FFF2-40B4-BE49-F238E27FC236}">
                <a16:creationId xmlns:a16="http://schemas.microsoft.com/office/drawing/2014/main" id="{C49A82AB-D328-4DB0-841B-186884119EB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78948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2">
            <a:extLst>
              <a:ext uri="{FF2B5EF4-FFF2-40B4-BE49-F238E27FC236}">
                <a16:creationId xmlns:a16="http://schemas.microsoft.com/office/drawing/2014/main" id="{84E23D5D-9866-48F9-8E08-DD2DBE4C4E32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5032296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2">
            <a:extLst>
              <a:ext uri="{FF2B5EF4-FFF2-40B4-BE49-F238E27FC236}">
                <a16:creationId xmlns:a16="http://schemas.microsoft.com/office/drawing/2014/main" id="{E671C9E6-A1A5-4EE5-8642-94AA7635DB05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02920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2">
            <a:extLst>
              <a:ext uri="{FF2B5EF4-FFF2-40B4-BE49-F238E27FC236}">
                <a16:creationId xmlns:a16="http://schemas.microsoft.com/office/drawing/2014/main" id="{DF6BB5C9-B678-435A-830F-4C10EB1A957C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275110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2">
            <a:extLst>
              <a:ext uri="{FF2B5EF4-FFF2-40B4-BE49-F238E27FC236}">
                <a16:creationId xmlns:a16="http://schemas.microsoft.com/office/drawing/2014/main" id="{1861EC87-A9E2-4FC3-B8BC-06C520B8A17F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75111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22">
            <a:extLst>
              <a:ext uri="{FF2B5EF4-FFF2-40B4-BE49-F238E27FC236}">
                <a16:creationId xmlns:a16="http://schemas.microsoft.com/office/drawing/2014/main" id="{FC3EDE91-631F-4947-94DC-557685FD23E0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9517923" y="4172761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22">
            <a:extLst>
              <a:ext uri="{FF2B5EF4-FFF2-40B4-BE49-F238E27FC236}">
                <a16:creationId xmlns:a16="http://schemas.microsoft.com/office/drawing/2014/main" id="{8FDDBEF4-1329-49DF-B043-D51B34F5EE3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9517923" y="4588259"/>
            <a:ext cx="2139696" cy="34431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FBDB3FD3-4F52-4E28-B639-5F73070E47D9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878337" y="2555551"/>
            <a:ext cx="1484985" cy="1280160"/>
          </a:xfrm>
          <a:custGeom>
            <a:avLst/>
            <a:gdLst>
              <a:gd name="connsiteX0" fmla="*/ 320040 w 1484985"/>
              <a:gd name="connsiteY0" fmla="*/ 0 h 1280160"/>
              <a:gd name="connsiteX1" fmla="*/ 1164945 w 1484985"/>
              <a:gd name="connsiteY1" fmla="*/ 0 h 1280160"/>
              <a:gd name="connsiteX2" fmla="*/ 1484985 w 1484985"/>
              <a:gd name="connsiteY2" fmla="*/ 640080 h 1280160"/>
              <a:gd name="connsiteX3" fmla="*/ 1164945 w 1484985"/>
              <a:gd name="connsiteY3" fmla="*/ 1280160 h 1280160"/>
              <a:gd name="connsiteX4" fmla="*/ 320040 w 1484985"/>
              <a:gd name="connsiteY4" fmla="*/ 1280160 h 1280160"/>
              <a:gd name="connsiteX5" fmla="*/ 0 w 1484985"/>
              <a:gd name="connsiteY5" fmla="*/ 640080 h 12801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484985" h="1280160">
                <a:moveTo>
                  <a:pt x="320040" y="0"/>
                </a:moveTo>
                <a:lnTo>
                  <a:pt x="1164945" y="0"/>
                </a:lnTo>
                <a:lnTo>
                  <a:pt x="1484985" y="640080"/>
                </a:lnTo>
                <a:lnTo>
                  <a:pt x="1164945" y="1280160"/>
                </a:lnTo>
                <a:lnTo>
                  <a:pt x="320040" y="1280160"/>
                </a:lnTo>
                <a:lnTo>
                  <a:pt x="0" y="640080"/>
                </a:lnTo>
                <a:close/>
              </a:path>
            </a:pathLst>
          </a:custGeom>
        </p:spPr>
        <p:txBody>
          <a:bodyPr wrap="square" anchor="ctr">
            <a:noAutofit/>
          </a:bodyPr>
          <a:lstStyle>
            <a:lvl1pPr algn="ctr">
              <a:buNone/>
              <a:defRPr/>
            </a:lvl1pPr>
          </a:lstStyle>
          <a:p>
            <a:r>
              <a:rPr lang="en-US"/>
              <a:t>Click icon to add picture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588483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Custom Layou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icture Placeholder 21">
            <a:extLst>
              <a:ext uri="{FF2B5EF4-FFF2-40B4-BE49-F238E27FC236}">
                <a16:creationId xmlns:a16="http://schemas.microsoft.com/office/drawing/2014/main" id="{DFA57703-9E4A-48E0-A123-3A5EDC76475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Rectangle 1" descr="Tall office building looking up">
            <a:extLst>
              <a:ext uri="{FF2B5EF4-FFF2-40B4-BE49-F238E27FC236}">
                <a16:creationId xmlns:a16="http://schemas.microsoft.com/office/drawing/2014/main" id="{AF7FA146-2A75-4EA7-A9AD-EBCE6F17FB42}"/>
              </a:ext>
            </a:extLst>
          </p:cNvPr>
          <p:cNvSpPr/>
          <p:nvPr userDrawn="1"/>
        </p:nvSpPr>
        <p:spPr>
          <a:xfrm>
            <a:off x="3718560" y="1181123"/>
            <a:ext cx="4754880" cy="4495754"/>
          </a:xfrm>
          <a:prstGeom prst="rect">
            <a:avLst/>
          </a:prstGeom>
          <a:solidFill>
            <a:schemeClr val="accent5">
              <a:alpha val="40000"/>
            </a:schemeClr>
          </a:solidFill>
          <a:ln w="6032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340C15AA-E296-48AE-857F-0589EEA69DC6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4149139" y="4859469"/>
            <a:ext cx="3924934" cy="490538"/>
          </a:xfrm>
          <a:prstGeom prst="rect">
            <a:avLst/>
          </a:prstGeom>
        </p:spPr>
        <p:txBody>
          <a:bodyPr/>
          <a:lstStyle>
            <a:lvl1pPr algn="r">
              <a:buNone/>
              <a:defRPr lang="en-US" sz="2400" b="1" kern="1200" dirty="0" smtClean="0">
                <a:solidFill>
                  <a:schemeClr val="accent4"/>
                </a:solidFill>
                <a:latin typeface="Calibri" panose="020F0502020204030204" pitchFamily="34" charset="0"/>
                <a:ea typeface="+mn-ea"/>
                <a:cs typeface="Calibri" panose="020F0502020204030204" pitchFamily="34" charset="0"/>
              </a:defRPr>
            </a:lvl1pPr>
            <a:lvl2pPr>
              <a:buNone/>
              <a:defRPr/>
            </a:lvl2pPr>
          </a:lstStyle>
          <a:p>
            <a:pPr lvl="0"/>
            <a:r>
              <a:rPr lang="en-US" dirty="0"/>
              <a:t>Click to edit text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162BE5D7-9E35-49F8-A8E4-2093183A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49139" y="1529685"/>
            <a:ext cx="3924934" cy="1695637"/>
          </a:xfrm>
          <a:prstGeom prst="rect">
            <a:avLst/>
          </a:prstGeom>
        </p:spPr>
        <p:txBody>
          <a:bodyPr/>
          <a:lstStyle>
            <a:lvl1pPr>
              <a:spcBef>
                <a:spcPts val="1000"/>
              </a:spcBef>
              <a:defRPr sz="4800" b="1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39956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9/10/2026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8" name="Date Placeholder 3">
            <a:extLst>
              <a:ext uri="{FF2B5EF4-FFF2-40B4-BE49-F238E27FC236}">
                <a16:creationId xmlns:a16="http://schemas.microsoft.com/office/drawing/2014/main" id="{2CD6B789-4B66-4BD0-9623-80E9542A65FE}"/>
              </a:ext>
            </a:extLst>
          </p:cNvPr>
          <p:cNvSpPr txBox="1">
            <a:spLocks/>
          </p:cNvSpPr>
          <p:nvPr userDrawn="1"/>
        </p:nvSpPr>
        <p:spPr>
          <a:xfrm>
            <a:off x="660396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7BD5F78-1C10-49D6-8616-C9F20406C112}" type="datetime1">
              <a:rPr lang="en-US" sz="1100" smtClean="0">
                <a:solidFill>
                  <a:schemeClr val="accent2"/>
                </a:solidFill>
              </a:rPr>
              <a:pPr/>
              <a:t>9/10/2026</a:t>
            </a:fld>
            <a:endParaRPr lang="en-US" sz="1100" dirty="0">
              <a:solidFill>
                <a:schemeClr val="accent2"/>
              </a:solidFill>
            </a:endParaRPr>
          </a:p>
        </p:txBody>
      </p:sp>
      <p:sp>
        <p:nvSpPr>
          <p:cNvPr id="29" name="Footer Placeholder 4">
            <a:extLst>
              <a:ext uri="{FF2B5EF4-FFF2-40B4-BE49-F238E27FC236}">
                <a16:creationId xmlns:a16="http://schemas.microsoft.com/office/drawing/2014/main" id="{A3BB5234-44A4-4506-BD19-5808475EBB7F}"/>
              </a:ext>
            </a:extLst>
          </p:cNvPr>
          <p:cNvSpPr txBox="1">
            <a:spLocks/>
          </p:cNvSpPr>
          <p:nvPr userDrawn="1"/>
        </p:nvSpPr>
        <p:spPr>
          <a:xfrm>
            <a:off x="1445526" y="6378906"/>
            <a:ext cx="41148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100" b="1" dirty="0">
                <a:solidFill>
                  <a:schemeClr val="accent2"/>
                </a:solidFill>
              </a:rPr>
              <a:t>Annual Review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68D89618-7EE9-46BF-BEAC-45E6F98ACA1A}"/>
              </a:ext>
            </a:extLst>
          </p:cNvPr>
          <p:cNvSpPr txBox="1">
            <a:spLocks/>
          </p:cNvSpPr>
          <p:nvPr userDrawn="1"/>
        </p:nvSpPr>
        <p:spPr>
          <a:xfrm>
            <a:off x="8805338" y="6378906"/>
            <a:ext cx="2743200" cy="365125"/>
          </a:xfrm>
          <a:prstGeom prst="rect">
            <a:avLst/>
          </a:prstGeom>
        </p:spPr>
        <p:txBody>
          <a:bodyPr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2C18C1E5-FB55-42F5-BD6D-9CC153FCDBE6}" type="slidenum">
              <a:rPr lang="en-US" sz="1100" smtClean="0">
                <a:solidFill>
                  <a:schemeClr val="accent4"/>
                </a:solidFill>
              </a:rPr>
              <a:pPr algn="r"/>
              <a:t>‹#›</a:t>
            </a:fld>
            <a:endParaRPr lang="en-US" sz="1100" dirty="0">
              <a:solidFill>
                <a:schemeClr val="accent4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42590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  <p:sldLayoutId id="2147483761" r:id="rId14"/>
    <p:sldLayoutId id="2147483762" r:id="rId15"/>
    <p:sldLayoutId id="2147483763" r:id="rId16"/>
    <p:sldLayoutId id="2147483764" r:id="rId17"/>
    <p:sldLayoutId id="2147483765" r:id="rId18"/>
    <p:sldLayoutId id="2147483766" r:id="rId19"/>
    <p:sldLayoutId id="2147483769" r:id="rId20"/>
    <p:sldLayoutId id="2147483690" r:id="rId21"/>
  </p:sldLayoutIdLst>
  <p:hf hdr="0" ft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fif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9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MidnightMohit/Seasonal-Agriculture-Performance-Analysis.git" TargetMode="External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19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fif"/><Relationship Id="rId1" Type="http://schemas.openxmlformats.org/officeDocument/2006/relationships/slideLayout" Target="../slideLayouts/slideLayout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201737A-B873-4D1D-8A41-5ABF5184BC8F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03179" y="3528949"/>
            <a:ext cx="6695147" cy="861497"/>
          </a:xfrm>
        </p:spPr>
        <p:txBody>
          <a:bodyPr vert="horz" lIns="91440" tIns="45720" rIns="91440" bIns="45720" rtlCol="0" anchor="t">
            <a:normAutofit fontScale="85000" lnSpcReduction="10000"/>
          </a:bodyPr>
          <a:lstStyle/>
          <a:p>
            <a:r>
              <a:rPr lang="en-US" b="0" dirty="0">
                <a:solidFill>
                  <a:schemeClr val="tx1"/>
                </a:solidFill>
              </a:rPr>
              <a:t>[Student Name : Mohit Kumar</a:t>
            </a:r>
          </a:p>
          <a:p>
            <a:r>
              <a:rPr lang="en-US" b="0" dirty="0">
                <a:solidFill>
                  <a:schemeClr val="tx1"/>
                </a:solidFill>
              </a:rPr>
              <a:t>College Name - </a:t>
            </a:r>
            <a:r>
              <a:rPr lang="en-US" b="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Muzaffarpur Institute of Technology ,Muzaffarpur </a:t>
            </a:r>
            <a:r>
              <a:rPr lang="en-US" b="0" dirty="0">
                <a:solidFill>
                  <a:schemeClr val="tx1"/>
                </a:solidFill>
              </a:rPr>
              <a:t>]</a:t>
            </a:r>
            <a:endParaRPr lang="en-IN" b="0" dirty="0">
              <a:solidFill>
                <a:schemeClr val="tx1"/>
              </a:solidFill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92056599-CDAA-4367-BEF8-31D6E32518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8364" y="2844750"/>
            <a:ext cx="8857522" cy="743448"/>
          </a:xfrm>
        </p:spPr>
        <p:txBody>
          <a:bodyPr>
            <a:normAutofit fontScale="90000"/>
          </a:bodyPr>
          <a:lstStyle/>
          <a:p>
            <a:r>
              <a:rPr lang="en-GB" sz="3200" dirty="0"/>
              <a:t>Project Title -</a:t>
            </a:r>
            <a:r>
              <a:rPr lang="en-IN" b="1" dirty="0"/>
              <a:t>Seasonal Agriculture Performance Analysis</a:t>
            </a:r>
            <a:endParaRPr lang="en-IN" sz="3200" dirty="0"/>
          </a:p>
        </p:txBody>
      </p:sp>
      <p:sp>
        <p:nvSpPr>
          <p:cNvPr id="15" name="Text Placeholder 1">
            <a:extLst>
              <a:ext uri="{FF2B5EF4-FFF2-40B4-BE49-F238E27FC236}">
                <a16:creationId xmlns:a16="http://schemas.microsoft.com/office/drawing/2014/main" id="{824B8A32-9AB3-457E-82E1-C85D3203CE35}"/>
              </a:ext>
            </a:extLst>
          </p:cNvPr>
          <p:cNvSpPr txBox="1">
            <a:spLocks/>
          </p:cNvSpPr>
          <p:nvPr/>
        </p:nvSpPr>
        <p:spPr>
          <a:xfrm>
            <a:off x="6400800" y="2794001"/>
            <a:ext cx="3312160" cy="86149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b="1" kern="120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sz="20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4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30DEFF0-8DEE-4B0B-9B30-675FE9E288A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17F04107-8754-E47D-3375-529E689711FA}"/>
              </a:ext>
            </a:extLst>
          </p:cNvPr>
          <p:cNvSpPr txBox="1"/>
          <p:nvPr/>
        </p:nvSpPr>
        <p:spPr>
          <a:xfrm>
            <a:off x="856466" y="4326903"/>
            <a:ext cx="56809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AICTE STU ID : (STU6a6c9fdb13ad51785503707)</a:t>
            </a:r>
          </a:p>
        </p:txBody>
      </p:sp>
    </p:spTree>
    <p:extLst>
      <p:ext uri="{BB962C8B-B14F-4D97-AF65-F5344CB8AC3E}">
        <p14:creationId xmlns:p14="http://schemas.microsoft.com/office/powerpoint/2010/main" val="1604013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53" presetClass="entr" presetSubtype="16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2" dur="5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  <p:bldP spid="15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46E4DD1-270B-4C80-AFF0-EB26F132AF36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998979" y="1598879"/>
            <a:ext cx="5395884" cy="4596364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Agricultural activities are influenced by seasonal variations in environmental conditions,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farming practices, resource availability and market conditions. As a result, agricultural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performance may differ from one season to another.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However, raw agricultural data does not clearly explain how agricultural performance changes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across seasons or what patterns can be observed in different seasonal conditions.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The problem is to </a:t>
            </a:r>
            <a:r>
              <a:rPr lang="en-IN" sz="2400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 the given agricultural dataset and investigate seasonal differences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in agricultural performance by identifying meaningful patterns, trends, relationships and </a:t>
            </a:r>
          </a:p>
          <a:p>
            <a:r>
              <a:rPr lang="en-IN" sz="2400" dirty="0">
                <a:latin typeface="Arial" panose="020B0604020202020204" pitchFamily="34" charset="0"/>
                <a:cs typeface="Arial" panose="020B0604020202020204" pitchFamily="34" charset="0"/>
              </a:rPr>
              <a:t>variations within the available data.</a:t>
            </a: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777CC02B-F7C6-47A8-8C3E-C57C417D9E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4602" y="550417"/>
            <a:ext cx="6995604" cy="790111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 STATEMENT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8FE02DE-D7B2-433D-BFE4-2F564022AD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95684" y="2930834"/>
            <a:ext cx="2760758" cy="32644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36DEFE3-051A-494A-949C-BB2FF86F9ED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85484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EBF2FBC7-3552-4F01-BB27-8BEEE74F727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47582" y="775524"/>
            <a:ext cx="6276109" cy="830997"/>
          </a:xfrm>
        </p:spPr>
        <p:txBody>
          <a:bodyPr>
            <a:normAutofit fontScale="90000"/>
          </a:bodyPr>
          <a:lstStyle/>
          <a:p>
            <a:r>
              <a:rPr lang="en-GB" dirty="0"/>
              <a:t>Project Description</a:t>
            </a:r>
            <a:br>
              <a:rPr lang="en-GB" dirty="0"/>
            </a:b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9D8A2BA-6C1D-4A33-85F2-E44A4FF54A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6BED3D6A-DC10-4985-B01B-735F2CBA6E4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1582038-EA56-1B1E-28CB-7CF81C46FE9F}"/>
              </a:ext>
            </a:extLst>
          </p:cNvPr>
          <p:cNvSpPr txBox="1"/>
          <p:nvPr/>
        </p:nvSpPr>
        <p:spPr>
          <a:xfrm>
            <a:off x="467359" y="2088764"/>
            <a:ext cx="8347036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project is given student to feel and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realise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real problem that data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anlysist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face in real life.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It is problem containing raw agriculture relation data . We have to </a:t>
            </a:r>
            <a:r>
              <a:rPr lang="en-US" dirty="0" err="1">
                <a:latin typeface="Arial" panose="020B0604020202020204" pitchFamily="34" charset="0"/>
                <a:cs typeface="Arial" panose="020B0604020202020204" pitchFamily="34" charset="0"/>
              </a:rPr>
              <a:t>analyse</a:t>
            </a: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 and process it to give positive outcomes that help stakeholder.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latin typeface="Arial" panose="020B0604020202020204" pitchFamily="34" charset="0"/>
                <a:cs typeface="Arial" panose="020B0604020202020204" pitchFamily="34" charset="0"/>
              </a:rPr>
              <a:t>This data contain 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information related to farming practices, environmental conditions, crop production, resource usage and economic performance.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We have to </a:t>
            </a:r>
            <a:r>
              <a:rPr lang="en-IN" dirty="0" err="1">
                <a:latin typeface="Arial" panose="020B0604020202020204" pitchFamily="34" charset="0"/>
                <a:cs typeface="Arial" panose="020B0604020202020204" pitchFamily="34" charset="0"/>
              </a:rPr>
              <a:t>analyze</a:t>
            </a: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the given agricultural dataset and investigate seasonal differences in agricultural performance by identifying meaningful patterns, trends, relationships and variations within the available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At the end , we have to make report on processed data and give solution</a:t>
            </a:r>
          </a:p>
          <a:p>
            <a:r>
              <a:rPr lang="en-IN" dirty="0">
                <a:latin typeface="Arial" panose="020B0604020202020204" pitchFamily="34" charset="0"/>
                <a:cs typeface="Arial" panose="020B0604020202020204" pitchFamily="34" charset="0"/>
              </a:rPr>
              <a:t>    to problems.</a:t>
            </a:r>
          </a:p>
        </p:txBody>
      </p:sp>
    </p:spTree>
    <p:extLst>
      <p:ext uri="{BB962C8B-B14F-4D97-AF65-F5344CB8AC3E}">
        <p14:creationId xmlns:p14="http://schemas.microsoft.com/office/powerpoint/2010/main" val="36967703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64E3B60-2780-459A-8583-F095D5E7463A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721359" y="1991360"/>
            <a:ext cx="7904481" cy="3990023"/>
          </a:xfrm>
        </p:spPr>
        <p:txBody>
          <a:bodyPr>
            <a:normAutofit fontScale="85000" lnSpcReduction="20000"/>
          </a:bodyPr>
          <a:lstStyle/>
          <a:p>
            <a:pPr lvl="0"/>
            <a:r>
              <a:rPr lang="en-IN" b="1" dirty="0"/>
              <a:t>Agricultural Planners &amp; Government Officials</a:t>
            </a:r>
            <a:endParaRPr lang="en-IN" dirty="0"/>
          </a:p>
          <a:p>
            <a:pPr lvl="1"/>
            <a:r>
              <a:rPr lang="en-IN" b="1" dirty="0"/>
              <a:t>Need:</a:t>
            </a:r>
            <a:r>
              <a:rPr lang="en-IN" dirty="0"/>
              <a:t> Evidence-based seasonal planning and resource allocation (subsidies, seeds, irrigation).</a:t>
            </a:r>
          </a:p>
          <a:p>
            <a:pPr lvl="1"/>
            <a:r>
              <a:rPr lang="en-IN" b="1" dirty="0"/>
              <a:t>Value:</a:t>
            </a:r>
            <a:r>
              <a:rPr lang="en-IN" dirty="0"/>
              <a:t> Data-driven insights to mitigate drought/seasonal risks and improve food security policies.</a:t>
            </a:r>
          </a:p>
          <a:p>
            <a:pPr lvl="0"/>
            <a:r>
              <a:rPr lang="en-IN" b="1" dirty="0"/>
              <a:t>Farmers &amp; Local Agricultural Advisory Services</a:t>
            </a:r>
            <a:endParaRPr lang="en-IN" dirty="0"/>
          </a:p>
          <a:p>
            <a:pPr lvl="1"/>
            <a:r>
              <a:rPr lang="en-IN" b="1" dirty="0"/>
              <a:t>Need:</a:t>
            </a:r>
            <a:r>
              <a:rPr lang="en-IN" dirty="0"/>
              <a:t> Understanding crop performance trends across varying environmental conditions and seasons.</a:t>
            </a:r>
          </a:p>
          <a:p>
            <a:pPr lvl="1"/>
            <a:r>
              <a:rPr lang="en-IN" b="1" dirty="0"/>
              <a:t>Value:</a:t>
            </a:r>
            <a:r>
              <a:rPr lang="en-IN" dirty="0"/>
              <a:t> Clear guidelines on crop selection, input timing (fertilizers/water), and yield optimization.</a:t>
            </a:r>
          </a:p>
          <a:p>
            <a:pPr lvl="0"/>
            <a:r>
              <a:rPr lang="en-IN" b="1" dirty="0"/>
              <a:t>Agronomists &amp; Data Researchers</a:t>
            </a:r>
            <a:endParaRPr lang="en-IN" dirty="0"/>
          </a:p>
          <a:p>
            <a:pPr lvl="1"/>
            <a:r>
              <a:rPr lang="en-IN" b="1" dirty="0"/>
              <a:t>Need:</a:t>
            </a:r>
            <a:r>
              <a:rPr lang="en-IN" dirty="0"/>
              <a:t> Exploring hidden correlations between seasonal weather, soil factors, and harvest metrics.</a:t>
            </a:r>
          </a:p>
          <a:p>
            <a:pPr lvl="1"/>
            <a:r>
              <a:rPr lang="en-IN" b="1" dirty="0"/>
              <a:t>Value:</a:t>
            </a:r>
            <a:r>
              <a:rPr lang="en-IN" dirty="0"/>
              <a:t> Cleaned, structured agricultural dataset with statistical relationship insights.</a:t>
            </a:r>
          </a:p>
          <a:p>
            <a:pPr marL="0" indent="0" algn="just">
              <a:lnSpc>
                <a:spcPct val="100000"/>
              </a:lnSpc>
              <a:buNone/>
            </a:pP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1A4A072B-83C6-4607-AE6A-5AD61CC72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0008" y="876617"/>
            <a:ext cx="10046070" cy="802641"/>
          </a:xfrm>
        </p:spPr>
        <p:txBody>
          <a:bodyPr>
            <a:normAutofit/>
          </a:bodyPr>
          <a:lstStyle/>
          <a:p>
            <a:r>
              <a:rPr lang="en-US" sz="3200" dirty="0"/>
              <a:t>WHO ARE THE END USERS?</a:t>
            </a:r>
            <a:endParaRPr lang="en-IN" sz="200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8B153BB-61B9-403F-8AE5-F75400450A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1359" y="6176804"/>
            <a:ext cx="2181225" cy="4857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80750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4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9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1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1000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uild="p"/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0B7C27C4-3E14-490A-B132-CBBEDA1E905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7359" y="6410461"/>
            <a:ext cx="3706253" cy="296092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F1FC3E39-8C60-4F64-9838-2A683F25B8C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flipH="1">
            <a:off x="50800" y="3820160"/>
            <a:ext cx="1727200" cy="3010024"/>
          </a:xfrm>
          <a:prstGeom prst="rect">
            <a:avLst/>
          </a:prstGeom>
        </p:spPr>
      </p:pic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B21C28F5-3CA3-4B78-B5C9-550C00BB3174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778000" y="1278384"/>
            <a:ext cx="9027702" cy="5243448"/>
          </a:xfrm>
        </p:spPr>
        <p:txBody>
          <a:bodyPr>
            <a:normAutofit lnSpcReduction="10000"/>
          </a:bodyPr>
          <a:lstStyle/>
          <a:p>
            <a:pPr lvl="0"/>
            <a:r>
              <a:rPr lang="en-IN" b="1" dirty="0"/>
              <a:t>Python</a:t>
            </a:r>
            <a:r>
              <a:rPr lang="en-IN" dirty="0"/>
              <a:t> – Main programming language used for data analysis. </a:t>
            </a:r>
          </a:p>
          <a:p>
            <a:pPr lvl="0"/>
            <a:r>
              <a:rPr lang="en-IN" b="1" dirty="0"/>
              <a:t>Google </a:t>
            </a:r>
            <a:r>
              <a:rPr lang="en-IN" b="1" dirty="0" err="1"/>
              <a:t>Colab</a:t>
            </a:r>
            <a:r>
              <a:rPr lang="en-IN" b="1" dirty="0"/>
              <a:t> / Jupyter Notebook</a:t>
            </a:r>
            <a:r>
              <a:rPr lang="en-IN" dirty="0"/>
              <a:t> – Environment used to write and execute Python code. </a:t>
            </a:r>
          </a:p>
          <a:p>
            <a:pPr lvl="0"/>
            <a:r>
              <a:rPr lang="en-IN" b="1" dirty="0"/>
              <a:t>Pandas</a:t>
            </a:r>
            <a:r>
              <a:rPr lang="en-IN" dirty="0"/>
              <a:t> – Used for loading, cleaning, filtering, and </a:t>
            </a:r>
            <a:r>
              <a:rPr lang="en-IN" dirty="0" err="1"/>
              <a:t>analyzing</a:t>
            </a:r>
            <a:r>
              <a:rPr lang="en-IN" dirty="0"/>
              <a:t> the CSV dataset. </a:t>
            </a:r>
          </a:p>
          <a:p>
            <a:pPr lvl="0"/>
            <a:r>
              <a:rPr lang="en-IN" b="1" dirty="0"/>
              <a:t>NumPy</a:t>
            </a:r>
            <a:r>
              <a:rPr lang="en-IN" dirty="0"/>
              <a:t> – Used for numerical calculations and data processing. </a:t>
            </a:r>
          </a:p>
          <a:p>
            <a:pPr lvl="0"/>
            <a:r>
              <a:rPr lang="en-IN" b="1" dirty="0"/>
              <a:t>Matplotlib</a:t>
            </a:r>
            <a:r>
              <a:rPr lang="en-IN" dirty="0"/>
              <a:t> – Used to create graphs and visualizations. </a:t>
            </a:r>
          </a:p>
          <a:p>
            <a:pPr lvl="0"/>
            <a:r>
              <a:rPr lang="en-IN" b="1" dirty="0"/>
              <a:t>CSV</a:t>
            </a:r>
            <a:r>
              <a:rPr lang="en-IN" dirty="0"/>
              <a:t> – File format used to store the Seasonal Agriculture Performance dataset. </a:t>
            </a:r>
          </a:p>
          <a:p>
            <a:pPr lvl="0"/>
            <a:r>
              <a:rPr lang="en-IN" b="1" dirty="0"/>
              <a:t>Data Analysis &amp; Visualization</a:t>
            </a:r>
            <a:r>
              <a:rPr lang="en-IN" dirty="0"/>
              <a:t> – Techniques used to find trends.</a:t>
            </a:r>
          </a:p>
          <a:p>
            <a:pPr lvl="1">
              <a:lnSpc>
                <a:spcPct val="150000"/>
              </a:lnSpc>
            </a:pPr>
            <a:endParaRPr lang="en-IN" dirty="0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FEF304F5-32C5-4869-B185-859B567855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60399" y="430567"/>
            <a:ext cx="5306291" cy="847817"/>
          </a:xfrm>
        </p:spPr>
        <p:txBody>
          <a:bodyPr>
            <a:normAutofit/>
          </a:bodyPr>
          <a:lstStyle/>
          <a:p>
            <a:r>
              <a:rPr lang="en-US" dirty="0"/>
              <a:t>Technology Used</a:t>
            </a:r>
          </a:p>
        </p:txBody>
      </p:sp>
    </p:spTree>
    <p:extLst>
      <p:ext uri="{BB962C8B-B14F-4D97-AF65-F5344CB8AC3E}">
        <p14:creationId xmlns:p14="http://schemas.microsoft.com/office/powerpoint/2010/main" val="13419010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8" dur="10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build="p"/>
      <p:bldP spid="9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BB0C869-7C5C-4070-BD4D-F3FC2DA8F3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AFE3A2AF-177E-45E6-A191-0F8523DB7F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372426BE-BEE7-4A6D-BCD2-059615BBCE25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E61E227A-5883-4C77-B25A-46A22FFDF41F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19D8AC7-3787-4ADB-9212-0808F015C2D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4B1933-E489-C42A-CAF0-0A8740E9A3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5957" y="1365692"/>
            <a:ext cx="7770421" cy="4856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6225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EAAE43-B138-25CD-D01F-41DB388556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FCF24DA-3CDC-4D87-9335-AB913C783F7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6D5AF756-BADB-9E87-14AC-F87A8C7463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716F3BA-AE41-9B35-3BCA-353F205375D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E149068-B429-662F-714A-0DD8CE171A51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3A64DB11-806F-1A4C-E0D5-D745D29CED5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A8AFD4E-CD20-88DC-F54F-B903FF74396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487" y="1201586"/>
            <a:ext cx="8634469" cy="5396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9627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F9E943-C59C-1D86-29CA-F786C47BAB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EC6E6C7-69F2-D361-F3CC-FC5268D9BC8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DFCD5524-F764-DC63-6F54-D48057CF17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4B1E3463-DEAD-53DD-2AC0-E8A458421D0B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B713140B-3822-90E0-F216-B77A695B86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B6E3B1C7-6A8B-23EE-6251-DC1067C6ADE9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8687CFB-4F05-A817-C927-0997886C54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201586"/>
            <a:ext cx="8827818" cy="55173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989017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05AC1B-54F8-474D-6B86-CF23FDF34B0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9D7CE81-8696-30A4-F33E-B4B569D3502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15FD49EE-0956-AAE3-737B-15F7D4267C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D224F8B1-34DD-5A54-7F70-25EBA532E6E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5A36120-3EFF-6A69-8D23-42BFD883ADDA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2B7B89A1-9444-8322-CADC-42D31D698FA8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13F259F-98CB-B793-7E37-A01830650A9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201586"/>
            <a:ext cx="8892013" cy="555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39798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030C45-6A74-29AD-A5C0-D5F36592DB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E7611FF-D6E5-400F-ED75-6F5531CFA95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9E35150-35BD-1B1F-9A8C-890DBFDF3B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2981643" cy="830997"/>
          </a:xfrm>
        </p:spPr>
        <p:txBody>
          <a:bodyPr>
            <a:normAutofit/>
          </a:bodyPr>
          <a:lstStyle/>
          <a:p>
            <a:r>
              <a:rPr lang="en-GB" dirty="0"/>
              <a:t>RESULTS </a:t>
            </a:r>
            <a:endParaRPr lang="en-IN" dirty="0"/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5A2A9BCE-A757-223C-2A3D-44341FB27A61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1EED58A7-2CD5-1355-8D1D-DD62A1ED8CB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10" name="Text Placeholder 1">
            <a:extLst>
              <a:ext uri="{FF2B5EF4-FFF2-40B4-BE49-F238E27FC236}">
                <a16:creationId xmlns:a16="http://schemas.microsoft.com/office/drawing/2014/main" id="{F85C769B-425A-FE3B-E47A-3B747985DC52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807164" y="1431693"/>
            <a:ext cx="4275138" cy="477520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[Add screen shots of your code ]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DACC754-064D-8305-5E65-3863D772B8B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7164" y="1251333"/>
            <a:ext cx="8377724" cy="52360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15222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  <p:bldP spid="10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6E94ED-1743-306E-1CA1-9410A2B509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04506C61-5206-F1DF-9994-DED24DFB1C6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B097C2C-D75A-31D4-CD9F-366F39CDE5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Future scope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B7444DDE-63A3-9721-77CC-C93FED110DAF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2C8A8B73-0C64-E012-F561-D7FE5E322230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02383E6-2740-40EC-35E5-A1259F99A492}"/>
              </a:ext>
            </a:extLst>
          </p:cNvPr>
          <p:cNvSpPr txBox="1"/>
          <p:nvPr/>
        </p:nvSpPr>
        <p:spPr>
          <a:xfrm>
            <a:off x="587830" y="1275371"/>
            <a:ext cx="808648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Predictive Yield &amp; Profit Modelling: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Transitioning from descriptive analysis to machine learning algorithms to predict crop yields and profitability based on pre-season soil and weather forecasts.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IoT &amp; Real-Time Sensor Integration: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Connecting the analytical framework directly to IoT field sensors for live monitoring and automated precision irrigation alerts.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Smart Resource Optimization Engines: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Developing optimization models that suggest optimal fertilizer mix and irrigation methods to maximize Water Efficiency while minimizing production costs.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Climate Change Volatility Simulation: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Simulating extreme weather scenarios to evaluate farm resilience and crop vulnerability across seasons.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IN" b="1" dirty="0"/>
              <a:t>Interactive GIS &amp; Regional Dashboard:</a:t>
            </a:r>
            <a:r>
              <a:rPr lang="en-IN" dirty="0"/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IN" dirty="0"/>
              <a:t>Expanding the project into a geospatial dashboard that lets regional agricultural officers visualize crop performance metrics interactively by state and district.</a:t>
            </a:r>
          </a:p>
        </p:txBody>
      </p:sp>
    </p:spTree>
    <p:extLst>
      <p:ext uri="{BB962C8B-B14F-4D97-AF65-F5344CB8AC3E}">
        <p14:creationId xmlns:p14="http://schemas.microsoft.com/office/powerpoint/2010/main" val="7768281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316CE-193E-3D5D-C15A-98517303A1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3D44118A-0276-9E2F-E0E8-85CEE9F1E0C7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901A2257-2F98-CB88-038E-C0F1D0A1A3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4735798" cy="830997"/>
          </a:xfrm>
        </p:spPr>
        <p:txBody>
          <a:bodyPr>
            <a:normAutofit/>
          </a:bodyPr>
          <a:lstStyle/>
          <a:p>
            <a:r>
              <a:rPr lang="en-IN" sz="4000" dirty="0"/>
              <a:t>GitHub Link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AF1C8809-654A-4DD1-BB18-87B8B6C020B9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0F7D0B46-DEEA-1B5E-FE84-59D11F3B1105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CC0A2A1-210A-BEC8-1907-ACE114D80745}"/>
              </a:ext>
            </a:extLst>
          </p:cNvPr>
          <p:cNvSpPr txBox="1"/>
          <p:nvPr/>
        </p:nvSpPr>
        <p:spPr>
          <a:xfrm>
            <a:off x="714727" y="1275371"/>
            <a:ext cx="3630967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dirty="0">
                <a:hlinkClick r:id="rId3"/>
              </a:rPr>
              <a:t>GITHUB LINK</a:t>
            </a:r>
            <a:endParaRPr lang="en-IN" sz="4400" dirty="0"/>
          </a:p>
        </p:txBody>
      </p:sp>
    </p:spTree>
    <p:extLst>
      <p:ext uri="{BB962C8B-B14F-4D97-AF65-F5344CB8AC3E}">
        <p14:creationId xmlns:p14="http://schemas.microsoft.com/office/powerpoint/2010/main" val="38636104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66297-EA5A-44FA-6968-26D32B9B1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B12FC48-BC6E-8635-A49E-73EF17CEDC0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4" name="Title 3">
            <a:extLst>
              <a:ext uri="{FF2B5EF4-FFF2-40B4-BE49-F238E27FC236}">
                <a16:creationId xmlns:a16="http://schemas.microsoft.com/office/drawing/2014/main" id="{42B692F6-18B4-BC16-EA0C-48FFBD5621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5957" y="370589"/>
            <a:ext cx="8351388" cy="884658"/>
          </a:xfrm>
        </p:spPr>
        <p:txBody>
          <a:bodyPr>
            <a:normAutofit fontScale="90000"/>
          </a:bodyPr>
          <a:lstStyle/>
          <a:p>
            <a:r>
              <a:rPr lang="en-IN" sz="3200" dirty="0"/>
              <a:t>VOIS Course completion certificate - </a:t>
            </a:r>
            <a:br>
              <a:rPr lang="en-IN" sz="3200" dirty="0"/>
            </a:br>
            <a:r>
              <a:rPr lang="en-IN" sz="3200" dirty="0"/>
              <a:t>Course name- Data Visualization </a:t>
            </a:r>
          </a:p>
        </p:txBody>
      </p:sp>
      <p:sp>
        <p:nvSpPr>
          <p:cNvPr id="7" name="Text Placeholder 30">
            <a:extLst>
              <a:ext uri="{FF2B5EF4-FFF2-40B4-BE49-F238E27FC236}">
                <a16:creationId xmlns:a16="http://schemas.microsoft.com/office/drawing/2014/main" id="{069BD300-7A70-B076-3B4C-43081E893162}"/>
              </a:ext>
            </a:extLst>
          </p:cNvPr>
          <p:cNvSpPr txBox="1">
            <a:spLocks/>
          </p:cNvSpPr>
          <p:nvPr/>
        </p:nvSpPr>
        <p:spPr>
          <a:xfrm>
            <a:off x="320982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sp>
        <p:nvSpPr>
          <p:cNvPr id="8" name="Text Placeholder 30">
            <a:extLst>
              <a:ext uri="{FF2B5EF4-FFF2-40B4-BE49-F238E27FC236}">
                <a16:creationId xmlns:a16="http://schemas.microsoft.com/office/drawing/2014/main" id="{8C1854F2-9914-C22F-FF0B-693CD1D0F966}"/>
              </a:ext>
            </a:extLst>
          </p:cNvPr>
          <p:cNvSpPr txBox="1">
            <a:spLocks/>
          </p:cNvSpPr>
          <p:nvPr/>
        </p:nvSpPr>
        <p:spPr>
          <a:xfrm>
            <a:off x="4345694" y="1275371"/>
            <a:ext cx="3343561" cy="6660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sz="20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D9F924E-9AD9-92EB-8386-15C6175B68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769" y="1439817"/>
            <a:ext cx="7612690" cy="53861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28022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7" grpId="0"/>
      <p:bldP spid="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D88C20CF-C1EE-4092-B52D-FD4AB2AB2508}"/>
              </a:ext>
            </a:extLst>
          </p:cNvPr>
          <p:cNvSpPr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anchor="ctr">
            <a:normAutofit fontScale="90000"/>
          </a:bodyPr>
          <a:lstStyle/>
          <a:p>
            <a:pPr algn="ctr"/>
            <a:r>
              <a:rPr lang="en-US" sz="4800" b="1" dirty="0">
                <a:solidFill>
                  <a:schemeClr val="tx1"/>
                </a:solidFill>
              </a:rPr>
              <a:t>Thank you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97AB1F14-3A1E-4057-A473-9975BA59F01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27865" y="4641925"/>
            <a:ext cx="2139695" cy="1108635"/>
          </a:xfrm>
        </p:spPr>
        <p:txBody>
          <a:bodyPr>
            <a:normAutofit/>
          </a:bodyPr>
          <a:lstStyle/>
          <a:p>
            <a:r>
              <a:rPr lang="en-US" dirty="0"/>
              <a:t>.</a:t>
            </a:r>
          </a:p>
        </p:txBody>
      </p:sp>
      <p:sp>
        <p:nvSpPr>
          <p:cNvPr id="17" name="Text Placeholder 28">
            <a:extLst>
              <a:ext uri="{FF2B5EF4-FFF2-40B4-BE49-F238E27FC236}">
                <a16:creationId xmlns:a16="http://schemas.microsoft.com/office/drawing/2014/main" id="{E212CE24-374D-44D0-8F39-0F5A36E42ED7}"/>
              </a:ext>
            </a:extLst>
          </p:cNvPr>
          <p:cNvSpPr txBox="1">
            <a:spLocks/>
          </p:cNvSpPr>
          <p:nvPr/>
        </p:nvSpPr>
        <p:spPr>
          <a:xfrm>
            <a:off x="878337" y="4134780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400" dirty="0"/>
          </a:p>
        </p:txBody>
      </p:sp>
      <p:sp>
        <p:nvSpPr>
          <p:cNvPr id="20" name="Text Placeholder 28">
            <a:extLst>
              <a:ext uri="{FF2B5EF4-FFF2-40B4-BE49-F238E27FC236}">
                <a16:creationId xmlns:a16="http://schemas.microsoft.com/office/drawing/2014/main" id="{A09A5BC1-0E62-4E6B-A590-951A87D4B4FE}"/>
              </a:ext>
            </a:extLst>
          </p:cNvPr>
          <p:cNvSpPr txBox="1">
            <a:spLocks/>
          </p:cNvSpPr>
          <p:nvPr/>
        </p:nvSpPr>
        <p:spPr>
          <a:xfrm>
            <a:off x="5353508" y="3962573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23" name="Text Placeholder 28">
            <a:extLst>
              <a:ext uri="{FF2B5EF4-FFF2-40B4-BE49-F238E27FC236}">
                <a16:creationId xmlns:a16="http://schemas.microsoft.com/office/drawing/2014/main" id="{9E6B148F-F3B6-4E6B-9B85-645C039858E8}"/>
              </a:ext>
            </a:extLst>
          </p:cNvPr>
          <p:cNvSpPr txBox="1">
            <a:spLocks/>
          </p:cNvSpPr>
          <p:nvPr/>
        </p:nvSpPr>
        <p:spPr>
          <a:xfrm>
            <a:off x="7789163" y="3962572"/>
            <a:ext cx="2596574" cy="45391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2000" b="1" kern="1200" dirty="0" smtClean="0">
                <a:solidFill>
                  <a:schemeClr val="accent4"/>
                </a:solidFill>
                <a:latin typeface="+mj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IN" sz="2200" dirty="0"/>
          </a:p>
        </p:txBody>
      </p:sp>
      <p:sp>
        <p:nvSpPr>
          <p:cNvPr id="30" name="Text Placeholder 30">
            <a:extLst>
              <a:ext uri="{FF2B5EF4-FFF2-40B4-BE49-F238E27FC236}">
                <a16:creationId xmlns:a16="http://schemas.microsoft.com/office/drawing/2014/main" id="{D3BF02F6-2753-476A-8046-A85AE3A49748}"/>
              </a:ext>
            </a:extLst>
          </p:cNvPr>
          <p:cNvSpPr txBox="1">
            <a:spLocks/>
          </p:cNvSpPr>
          <p:nvPr/>
        </p:nvSpPr>
        <p:spPr>
          <a:xfrm>
            <a:off x="6096000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GB" dirty="0"/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B993AB29-3A3A-4473-8AC8-86E859C97321}"/>
              </a:ext>
            </a:extLst>
          </p:cNvPr>
          <p:cNvSpPr txBox="1">
            <a:spLocks/>
          </p:cNvSpPr>
          <p:nvPr/>
        </p:nvSpPr>
        <p:spPr>
          <a:xfrm>
            <a:off x="8591363" y="4641925"/>
            <a:ext cx="2139695" cy="110863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None/>
              <a:defRPr lang="en-US" sz="16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/>
              <a:t>.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3F9E86-2FB3-4DB3-9343-59D594F350A0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96181"/>
          <a:stretch/>
        </p:blipFill>
        <p:spPr>
          <a:xfrm>
            <a:off x="675957" y="6471920"/>
            <a:ext cx="2143125" cy="193040"/>
          </a:xfrm>
          <a:prstGeom prst="rect">
            <a:avLst/>
          </a:prstGeom>
        </p:spPr>
      </p:pic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BC277FD7-925B-4C3D-A364-11840320150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2975013" y="3962573"/>
            <a:ext cx="2139696" cy="344312"/>
          </a:xfrm>
        </p:spPr>
        <p:txBody>
          <a:bodyPr>
            <a:normAutofit fontScale="92500" lnSpcReduction="20000"/>
          </a:bodyPr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017487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1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3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0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2" presetClass="entr" presetSubtype="4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3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4" dur="500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31" grpId="0" build="p"/>
      <p:bldP spid="17" grpId="0"/>
      <p:bldP spid="20" grpId="0"/>
      <p:bldP spid="23" grpId="0"/>
      <p:bldP spid="30" grpId="0"/>
      <p:bldP spid="3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12" ma:contentTypeDescription="Create a new document." ma:contentTypeScope="" ma:versionID="426e97fa315356fffbdcd9876fe988c2">
  <xsd:schema xmlns:xsd="http://www.w3.org/2001/XMLSchema" xmlns:xs="http://www.w3.org/2001/XMLSchema" xmlns:p="http://schemas.microsoft.com/office/2006/metadata/properties" xmlns:ns2="71af3243-3dd4-4a8d-8c0d-dd76da1f02a5" xmlns:ns3="16c05727-aa75-4e4a-9b5f-8a80a1165891" targetNamespace="http://schemas.microsoft.com/office/2006/metadata/properties" ma:root="true" ma:fieldsID="14b8f0def80e6d70ce3def20c90759ae" ns2:_="" ns3:_="">
    <xsd:import namespace="71af3243-3dd4-4a8d-8c0d-dd76da1f02a5"/>
    <xsd:import namespace="16c05727-aa75-4e4a-9b5f-8a80a116589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2: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AutoTags" ma:index="11" nillable="true" ma:displayName="MediaServiceAutoTags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internalName="MediaServiceKeyPoints" ma:readOnly="false">
      <xsd:simpleType>
        <xsd:restriction base="dms:Note">
          <xsd:maxLength value="255"/>
        </xsd:restriction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Status" ma:index="19" nillable="true" ma:displayName="Status" ma:default="Not started" ma:format="Dropdown" ma:internalName="Status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B19EB750-A6DA-4BE8-B87B-FC499FE73360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71af3243-3dd4-4a8d-8c0d-dd76da1f02a5"/>
    <ds:schemaRef ds:uri="16c05727-aa75-4e4a-9b5f-8a80a1165891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05D99ABA-76CE-4A8E-B5F0-C051B96628D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4DEA9014-ED64-4558-B1E1-D03F0EE32BEB}">
  <ds:schemaRefs>
    <ds:schemaRef ds:uri="http://schemas.microsoft.com/office/2006/metadata/properties"/>
    <ds:schemaRef ds:uri="http://schemas.microsoft.com/office/infopath/2007/PartnerControls"/>
    <ds:schemaRef ds:uri="71af3243-3dd4-4a8d-8c0d-dd76da1f02a5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669</TotalTime>
  <Words>619</Words>
  <Application>Microsoft Office PowerPoint</Application>
  <PresentationFormat>Widescreen</PresentationFormat>
  <Paragraphs>65</Paragraphs>
  <Slides>14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20" baseType="lpstr">
      <vt:lpstr>Arial</vt:lpstr>
      <vt:lpstr>Calibri</vt:lpstr>
      <vt:lpstr>Trebuchet MS</vt:lpstr>
      <vt:lpstr>Wingdings</vt:lpstr>
      <vt:lpstr>Wingdings 3</vt:lpstr>
      <vt:lpstr>Facet</vt:lpstr>
      <vt:lpstr>Project Title -Seasonal Agriculture Performance Analysis</vt:lpstr>
      <vt:lpstr>PROBLEM  STATEMENT</vt:lpstr>
      <vt:lpstr>Project Description </vt:lpstr>
      <vt:lpstr>WHO ARE THE END USERS?</vt:lpstr>
      <vt:lpstr>Technology Used</vt:lpstr>
      <vt:lpstr>RESULTS </vt:lpstr>
      <vt:lpstr>RESULTS </vt:lpstr>
      <vt:lpstr>RESULTS </vt:lpstr>
      <vt:lpstr>RESULTS </vt:lpstr>
      <vt:lpstr>RESULTS </vt:lpstr>
      <vt:lpstr>Future scope</vt:lpstr>
      <vt:lpstr>GitHub Link</vt:lpstr>
      <vt:lpstr>VOIS Course completion certificate -  Course name- Data Visualization 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MASKED HUNTERS</dc:title>
  <dc:creator>Venkataswamy</dc:creator>
  <cp:lastModifiedBy>Aman Kumar</cp:lastModifiedBy>
  <cp:revision>106</cp:revision>
  <dcterms:created xsi:type="dcterms:W3CDTF">2021-07-11T13:13:15Z</dcterms:created>
  <dcterms:modified xsi:type="dcterms:W3CDTF">2026-09-10T05:29:38Z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